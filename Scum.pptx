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1"/>
  </p:sldMasterIdLst>
  <p:notesMasterIdLst>
    <p:notesMasterId r:id="rId8"/>
  </p:notesMasterIdLst>
  <p:sldIdLst>
    <p:sldId id="284" r:id="rId2"/>
    <p:sldId id="285" r:id="rId3"/>
    <p:sldId id="286" r:id="rId4"/>
    <p:sldId id="287" r:id="rId5"/>
    <p:sldId id="291" r:id="rId6"/>
    <p:sldId id="289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759C"/>
    <a:srgbClr val="F05768"/>
    <a:srgbClr val="00C5B9"/>
    <a:srgbClr val="2F3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EA2C2E-899E-4C26-A2D4-78B0662C11C5}">
  <a:tblStyle styleId="{B7EA2C2E-899E-4C26-A2D4-78B0662C11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110" autoAdjust="0"/>
  </p:normalViewPr>
  <p:slideViewPr>
    <p:cSldViewPr showGuides="1">
      <p:cViewPr varScale="1">
        <p:scale>
          <a:sx n="68" d="100"/>
          <a:sy n="68" d="100"/>
        </p:scale>
        <p:origin x="1168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8337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54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59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907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202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24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C5B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2F38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2000" y="3265350"/>
            <a:ext cx="57600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None/>
              <a:defRPr sz="4800">
                <a:solidFill>
                  <a:srgbClr val="F05768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855150" y="1840275"/>
            <a:ext cx="1433700" cy="955800"/>
          </a:xfrm>
          <a:prstGeom prst="wedgeRectCallout">
            <a:avLst>
              <a:gd name="adj1" fmla="val 8366"/>
              <a:gd name="adj2" fmla="val 80819"/>
            </a:avLst>
          </a:prstGeom>
          <a:noFill/>
          <a:ln w="114300" cap="flat" cmpd="sng">
            <a:solidFill>
              <a:srgbClr val="F0576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pink">
  <p:cSld name="TITLE_1_2">
    <p:bg>
      <p:bgPr>
        <a:solidFill>
          <a:srgbClr val="FD8E8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F057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65225" y="2018025"/>
            <a:ext cx="4927500" cy="15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854252" y="3922275"/>
            <a:ext cx="3815400" cy="993900"/>
          </a:xfrm>
          <a:prstGeom prst="rect">
            <a:avLst/>
          </a:prstGeom>
          <a:ln w="1143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urce Sans Pro"/>
              <a:buNone/>
              <a:defRPr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139933" y="3640725"/>
            <a:ext cx="274800" cy="2748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F05768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3855150" y="1459275"/>
            <a:ext cx="1433700" cy="955800"/>
          </a:xfrm>
          <a:prstGeom prst="wedgeRectCallout">
            <a:avLst>
              <a:gd name="adj1" fmla="val 8366"/>
              <a:gd name="adj2" fmla="val 808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810450" y="2790325"/>
            <a:ext cx="7523100" cy="80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31800" algn="ctr" rtl="0">
              <a:spcBef>
                <a:spcPts val="600"/>
              </a:spcBef>
              <a:spcAft>
                <a:spcPts val="0"/>
              </a:spcAft>
              <a:buSzPts val="3200"/>
              <a:buChar char="■"/>
              <a:defRPr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800" lvl="3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4pPr>
            <a:lvl5pPr marL="2286000" lvl="4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5pPr>
            <a:lvl6pPr marL="2743200" lvl="5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6pPr>
            <a:lvl7pPr marL="3200400" lvl="6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7pPr>
            <a:lvl8pPr marL="3657600" lvl="7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/>
            </a:lvl9pPr>
          </a:lstStyle>
          <a:p>
            <a:endParaRPr/>
          </a:p>
        </p:txBody>
      </p:sp>
      <p:sp>
        <p:nvSpPr>
          <p:cNvPr id="27" name="Google Shape;27;p5"/>
          <p:cNvSpPr txBox="1"/>
          <p:nvPr/>
        </p:nvSpPr>
        <p:spPr>
          <a:xfrm>
            <a:off x="3593400" y="1499025"/>
            <a:ext cx="19572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</a:t>
            </a:r>
            <a:endParaRPr sz="6000" b="1">
              <a:solidFill>
                <a:srgbClr val="00C5B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181050" y="1331950"/>
            <a:ext cx="8781900" cy="5357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6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32" name="Google Shape;32;p6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6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753150" y="1600200"/>
            <a:ext cx="7637700" cy="4967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31800">
              <a:spcBef>
                <a:spcPts val="600"/>
              </a:spcBef>
              <a:spcAft>
                <a:spcPts val="0"/>
              </a:spcAft>
              <a:buSzPts val="3200"/>
              <a:buChar char="■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9"/>
          <p:cNvGrpSpPr/>
          <p:nvPr/>
        </p:nvGrpSpPr>
        <p:grpSpPr>
          <a:xfrm>
            <a:off x="180850" y="168450"/>
            <a:ext cx="8781900" cy="1296663"/>
            <a:chOff x="180850" y="168450"/>
            <a:chExt cx="8781900" cy="1296663"/>
          </a:xfrm>
        </p:grpSpPr>
        <p:sp>
          <p:nvSpPr>
            <p:cNvPr id="61" name="Google Shape;61;p9"/>
            <p:cNvSpPr/>
            <p:nvPr/>
          </p:nvSpPr>
          <p:spPr>
            <a:xfrm>
              <a:off x="180850" y="168450"/>
              <a:ext cx="8781900" cy="973500"/>
            </a:xfrm>
            <a:prstGeom prst="rect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9"/>
            <p:cNvSpPr/>
            <p:nvPr/>
          </p:nvSpPr>
          <p:spPr>
            <a:xfrm rot="5400000">
              <a:off x="1027273" y="930513"/>
              <a:ext cx="442800" cy="626400"/>
            </a:xfrm>
            <a:prstGeom prst="rtTriangle">
              <a:avLst/>
            </a:prstGeom>
            <a:solidFill>
              <a:srgbClr val="00C5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361300" y="341550"/>
              <a:ext cx="8421000" cy="62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81050" y="168450"/>
            <a:ext cx="8781900" cy="6521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80050" y="274650"/>
            <a:ext cx="738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5B9"/>
              </a:buClr>
              <a:buSzPts val="2400"/>
              <a:buFont typeface="Source Sans Pro"/>
              <a:buNone/>
              <a:defRPr sz="2400" b="1">
                <a:solidFill>
                  <a:srgbClr val="00C5B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80050" y="1600209"/>
            <a:ext cx="73839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31800"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buNone/>
              <a:defRPr sz="130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rum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srumguide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ctrTitle"/>
          </p:nvPr>
        </p:nvSpPr>
        <p:spPr>
          <a:xfrm>
            <a:off x="1692000" y="3265350"/>
            <a:ext cx="5760000" cy="849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/>
              <a:t>SCRUM</a:t>
            </a:r>
            <a:endParaRPr sz="6000" dirty="0"/>
          </a:p>
        </p:txBody>
      </p:sp>
      <p:sp>
        <p:nvSpPr>
          <p:cNvPr id="3" name="Google Shape;86;p15"/>
          <p:cNvSpPr txBox="1">
            <a:spLocks/>
          </p:cNvSpPr>
          <p:nvPr/>
        </p:nvSpPr>
        <p:spPr>
          <a:xfrm>
            <a:off x="304800" y="4267200"/>
            <a:ext cx="8534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768"/>
              </a:buClr>
              <a:buSzPts val="4800"/>
              <a:buFont typeface="Source Sans Pro"/>
              <a:buNone/>
              <a:defRPr sz="4800" b="1" i="0" u="none" strike="noStrike" cap="none">
                <a:solidFill>
                  <a:srgbClr val="F0576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algn="r"/>
            <a:r>
              <a:rPr lang="en-US" sz="2800" b="0" dirty="0" err="1" smtClean="0">
                <a:solidFill>
                  <a:srgbClr val="00C5B9"/>
                </a:solidFill>
              </a:rPr>
              <a:t>Đặng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Quách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Gia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Bình</a:t>
            </a:r>
            <a:r>
              <a:rPr lang="en-US" sz="2800" b="0" dirty="0" smtClean="0">
                <a:solidFill>
                  <a:srgbClr val="00C5B9"/>
                </a:solidFill>
              </a:rPr>
              <a:t> – </a:t>
            </a:r>
            <a:r>
              <a:rPr lang="en-US" sz="2800" b="0" dirty="0" err="1" smtClean="0">
                <a:solidFill>
                  <a:srgbClr val="00C5B9"/>
                </a:solidFill>
              </a:rPr>
              <a:t>Nguyễn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Thị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Thúy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Duy</a:t>
            </a:r>
            <a:r>
              <a:rPr lang="en-US" sz="2800" b="0" dirty="0" smtClean="0">
                <a:solidFill>
                  <a:srgbClr val="00C5B9"/>
                </a:solidFill>
              </a:rPr>
              <a:t/>
            </a:r>
            <a:br>
              <a:rPr lang="en-US" sz="2800" b="0" dirty="0" smtClean="0">
                <a:solidFill>
                  <a:srgbClr val="00C5B9"/>
                </a:solidFill>
              </a:rPr>
            </a:br>
            <a:r>
              <a:rPr lang="en-US" sz="2800" b="0" dirty="0" err="1" smtClean="0">
                <a:solidFill>
                  <a:srgbClr val="00C5B9"/>
                </a:solidFill>
              </a:rPr>
              <a:t>Nguyễn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Lâm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Trúc</a:t>
            </a:r>
            <a:r>
              <a:rPr lang="en-US" sz="2800" b="0" dirty="0" smtClean="0">
                <a:solidFill>
                  <a:srgbClr val="00C5B9"/>
                </a:solidFill>
              </a:rPr>
              <a:t> Mai – </a:t>
            </a:r>
            <a:r>
              <a:rPr lang="en-US" sz="2800" b="0" dirty="0" err="1" smtClean="0">
                <a:solidFill>
                  <a:srgbClr val="00C5B9"/>
                </a:solidFill>
              </a:rPr>
              <a:t>Nguyễn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Thị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Bảo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Thư</a:t>
            </a:r>
            <a:r>
              <a:rPr lang="en-US" sz="2800" b="0" dirty="0">
                <a:solidFill>
                  <a:srgbClr val="00C5B9"/>
                </a:solidFill>
              </a:rPr>
              <a:t> </a:t>
            </a:r>
            <a:r>
              <a:rPr lang="en-US" sz="2800" b="0" dirty="0" smtClean="0">
                <a:solidFill>
                  <a:srgbClr val="00C5B9"/>
                </a:solidFill>
              </a:rPr>
              <a:t>–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Huỳnh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Ngô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Phương</a:t>
            </a:r>
            <a:r>
              <a:rPr lang="en-US" sz="2800" b="0" dirty="0" smtClean="0">
                <a:solidFill>
                  <a:srgbClr val="00C5B9"/>
                </a:solidFill>
              </a:rPr>
              <a:t> </a:t>
            </a:r>
            <a:r>
              <a:rPr lang="en-US" sz="2800" b="0" dirty="0" err="1" smtClean="0">
                <a:solidFill>
                  <a:srgbClr val="00C5B9"/>
                </a:solidFill>
              </a:rPr>
              <a:t>Kỷ</a:t>
            </a:r>
            <a:endParaRPr lang="en-US" sz="2800" b="0" dirty="0" smtClean="0">
              <a:solidFill>
                <a:srgbClr val="00C5B9"/>
              </a:solidFill>
            </a:endParaRPr>
          </a:p>
          <a:p>
            <a:pPr algn="r"/>
            <a:r>
              <a:rPr lang="en-US" sz="2800" b="0" dirty="0" smtClean="0">
                <a:solidFill>
                  <a:srgbClr val="00C5B9"/>
                </a:solidFill>
              </a:rPr>
              <a:t>Class: CNTT-CLC 1 K43</a:t>
            </a:r>
            <a:endParaRPr lang="en-US" sz="2800" b="0" dirty="0">
              <a:solidFill>
                <a:srgbClr val="00C5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9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602650" y="2545650"/>
            <a:ext cx="2808000" cy="1766700"/>
          </a:xfrm>
          <a:prstGeom prst="homePlate">
            <a:avLst>
              <a:gd name="adj" fmla="val 30129"/>
            </a:avLst>
          </a:prstGeom>
          <a:noFill/>
          <a:ln w="114300" cap="flat" cmpd="sng">
            <a:solidFill>
              <a:srgbClr val="6CF3CE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Definition</a:t>
            </a:r>
            <a:endParaRPr sz="3200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3114000" y="2545650"/>
            <a:ext cx="2862000" cy="17667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00C5B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endParaRPr sz="3200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1" name="Google Shape;221;p31"/>
          <p:cNvSpPr/>
          <p:nvPr/>
        </p:nvSpPr>
        <p:spPr>
          <a:xfrm>
            <a:off x="5679350" y="2545650"/>
            <a:ext cx="3007450" cy="1766700"/>
          </a:xfrm>
          <a:prstGeom prst="chevron">
            <a:avLst>
              <a:gd name="adj" fmla="val 29853"/>
            </a:avLst>
          </a:prstGeom>
          <a:noFill/>
          <a:ln w="114300" cap="flat" cmpd="sng">
            <a:solidFill>
              <a:srgbClr val="2F384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Principles</a:t>
            </a:r>
            <a:endParaRPr sz="3200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/>
              <a:t>OUTLINE</a:t>
            </a:r>
            <a:endParaRPr sz="3200" dirty="0"/>
          </a:p>
        </p:txBody>
      </p:sp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933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810450" y="2667000"/>
            <a:ext cx="7523100" cy="2772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i="0" dirty="0" smtClean="0"/>
              <a:t>A </a:t>
            </a:r>
            <a:r>
              <a:rPr lang="en-US" i="0" dirty="0" smtClean="0">
                <a:solidFill>
                  <a:srgbClr val="F05768"/>
                </a:solidFill>
              </a:rPr>
              <a:t>framework </a:t>
            </a:r>
            <a:r>
              <a:rPr lang="en-US" i="0" dirty="0" smtClean="0"/>
              <a:t>within which people can address complex adaptive problems, while productively and creatively delivering products of the highest possible value.</a:t>
            </a:r>
            <a:endParaRPr dirty="0"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" name="Google Shape;115;p19"/>
          <p:cNvSpPr txBox="1">
            <a:spLocks/>
          </p:cNvSpPr>
          <p:nvPr/>
        </p:nvSpPr>
        <p:spPr>
          <a:xfrm>
            <a:off x="3810000" y="5334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F3848"/>
              </a:buClr>
              <a:buSzPts val="3200"/>
              <a:buFont typeface="Source Sans Pro"/>
              <a:buChar char="■"/>
              <a:defRPr sz="32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○"/>
              <a:defRPr sz="24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2400"/>
              <a:buFont typeface="Source Sans Pro"/>
              <a:buChar char="■"/>
              <a:defRPr sz="24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●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○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848"/>
              </a:buClr>
              <a:buSzPts val="1800"/>
              <a:buFont typeface="Source Sans Pro"/>
              <a:buChar char="■"/>
              <a:defRPr sz="1800" b="0" i="1" u="none" strike="noStrike" cap="none">
                <a:solidFill>
                  <a:srgbClr val="2F384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dirty="0"/>
              <a:t>[</a:t>
            </a:r>
            <a:r>
              <a:rPr lang="en-US" dirty="0" smtClean="0"/>
              <a:t>Srumguides.org]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3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PROCESS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pSp>
        <p:nvGrpSpPr>
          <p:cNvPr id="9" name="Group 8"/>
          <p:cNvGrpSpPr/>
          <p:nvPr/>
        </p:nvGrpSpPr>
        <p:grpSpPr>
          <a:xfrm>
            <a:off x="57465" y="1143000"/>
            <a:ext cx="8934136" cy="533400"/>
            <a:chOff x="57465" y="1143000"/>
            <a:chExt cx="8934136" cy="533400"/>
          </a:xfrm>
        </p:grpSpPr>
        <p:sp>
          <p:nvSpPr>
            <p:cNvPr id="7" name="Rectangle 6"/>
            <p:cNvSpPr/>
            <p:nvPr/>
          </p:nvSpPr>
          <p:spPr>
            <a:xfrm>
              <a:off x="57465" y="1257299"/>
              <a:ext cx="8934136" cy="4191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/>
            <p:cNvSpPr/>
            <p:nvPr/>
          </p:nvSpPr>
          <p:spPr>
            <a:xfrm rot="5400000">
              <a:off x="1007165" y="1083365"/>
              <a:ext cx="304800" cy="424070"/>
            </a:xfrm>
            <a:prstGeom prst="rtTriangle">
              <a:avLst/>
            </a:prstGeom>
            <a:solidFill>
              <a:srgbClr val="00C5B9"/>
            </a:solidFill>
            <a:ln>
              <a:solidFill>
                <a:srgbClr val="00C5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849"/>
            <a:ext cx="9144000" cy="52725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8600" y="1818587"/>
            <a:ext cx="3505200" cy="876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130345" y="2220320"/>
            <a:ext cx="1005840" cy="1005840"/>
            <a:chOff x="7130345" y="2220320"/>
            <a:chExt cx="914400" cy="914400"/>
          </a:xfrm>
        </p:grpSpPr>
        <p:sp>
          <p:nvSpPr>
            <p:cNvPr id="10" name="Oval 9"/>
            <p:cNvSpPr/>
            <p:nvPr/>
          </p:nvSpPr>
          <p:spPr>
            <a:xfrm>
              <a:off x="7130345" y="2220320"/>
              <a:ext cx="914400" cy="914400"/>
            </a:xfrm>
            <a:prstGeom prst="ellipse">
              <a:avLst/>
            </a:prstGeom>
            <a:solidFill>
              <a:srgbClr val="0175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8078" y="2220320"/>
              <a:ext cx="846667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563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3190800" y="2362200"/>
            <a:ext cx="2724300" cy="2724300"/>
          </a:xfrm>
          <a:prstGeom prst="ellipse">
            <a:avLst/>
          </a:prstGeom>
          <a:solidFill>
            <a:srgbClr val="2F3848"/>
          </a:solidFill>
          <a:ln w="114300" cap="flat" cmpd="sng">
            <a:solidFill>
              <a:srgbClr val="2F38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400" b="1" dirty="0">
                <a:solidFill>
                  <a:schemeClr val="bg1"/>
                </a:solidFill>
              </a:rPr>
              <a:t>Adaption</a:t>
            </a:r>
            <a:endParaRPr sz="2400" b="1" dirty="0">
              <a:solidFill>
                <a:schemeClr val="bg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733350" y="2362200"/>
            <a:ext cx="2724300" cy="2724300"/>
          </a:xfrm>
          <a:prstGeom prst="ellipse">
            <a:avLst/>
          </a:prstGeom>
          <a:noFill/>
          <a:ln w="114300" cap="flat" cmpd="sng">
            <a:solidFill>
              <a:srgbClr val="F057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b="1" dirty="0" smtClean="0"/>
              <a:t>Transparency</a:t>
            </a:r>
            <a:endParaRPr sz="2400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5686350" y="2362200"/>
            <a:ext cx="2724300" cy="2724300"/>
          </a:xfrm>
          <a:prstGeom prst="ellipse">
            <a:avLst/>
          </a:prstGeom>
          <a:noFill/>
          <a:ln w="114300" cap="flat" cmpd="sng">
            <a:solidFill>
              <a:srgbClr val="00C5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400" b="1" dirty="0"/>
              <a:t>Inspection</a:t>
            </a:r>
            <a:endParaRPr sz="2400" b="1" dirty="0">
              <a:solidFill>
                <a:srgbClr val="2F384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832475" y="168450"/>
            <a:ext cx="7951800" cy="9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dirty="0" smtClean="0"/>
              <a:t>PRINCIPLES</a:t>
            </a:r>
            <a:endParaRPr sz="3200" dirty="0"/>
          </a:p>
        </p:txBody>
      </p:sp>
      <p:sp>
        <p:nvSpPr>
          <p:cNvPr id="175" name="Google Shape;175;p26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101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ctrTitle" idx="4294967295"/>
          </p:nvPr>
        </p:nvSpPr>
        <p:spPr>
          <a:xfrm>
            <a:off x="3260375" y="891925"/>
            <a:ext cx="4782900" cy="10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>
                <a:solidFill>
                  <a:srgbClr val="F05768"/>
                </a:solidFill>
              </a:rPr>
              <a:t>Thanks!</a:t>
            </a:r>
            <a:endParaRPr sz="6000" dirty="0">
              <a:solidFill>
                <a:srgbClr val="F05768"/>
              </a:solidFill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4294967295"/>
          </p:nvPr>
        </p:nvSpPr>
        <p:spPr>
          <a:xfrm>
            <a:off x="3260375" y="1802300"/>
            <a:ext cx="4782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 smtClean="0">
                <a:solidFill>
                  <a:srgbClr val="00C5B9"/>
                </a:solidFill>
              </a:rPr>
              <a:t>Any questions?</a:t>
            </a:r>
            <a:endParaRPr sz="3600" b="1" dirty="0">
              <a:solidFill>
                <a:srgbClr val="00C5B9"/>
              </a:solidFill>
            </a:endParaRPr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4294967295"/>
          </p:nvPr>
        </p:nvSpPr>
        <p:spPr>
          <a:xfrm>
            <a:off x="3260375" y="3058900"/>
            <a:ext cx="4782900" cy="32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 smtClean="0"/>
              <a:t>Document: </a:t>
            </a:r>
            <a:endParaRPr lang="en"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 smtClean="0">
                <a:hlinkClick r:id="rId3"/>
              </a:rPr>
              <a:t>www.srum.org</a:t>
            </a:r>
            <a:endParaRPr lang="en" sz="24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 smtClean="0">
                <a:hlinkClick r:id="rId4"/>
              </a:rPr>
              <a:t>www.srumguides.org</a:t>
            </a:r>
            <a:endParaRPr lang="en" sz="24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4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4297650" y="6333134"/>
            <a:ext cx="548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7" name="Google Shape;130;p21"/>
          <p:cNvSpPr/>
          <p:nvPr/>
        </p:nvSpPr>
        <p:spPr>
          <a:xfrm>
            <a:off x="1346768" y="912975"/>
            <a:ext cx="1737360" cy="1737360"/>
          </a:xfrm>
          <a:prstGeom prst="wedgeRectCallout">
            <a:avLst>
              <a:gd name="adj1" fmla="val -32904"/>
              <a:gd name="adj2" fmla="val 66457"/>
            </a:avLst>
          </a:prstGeom>
          <a:noFill/>
          <a:ln w="152400" cap="flat" cmpd="sng">
            <a:solidFill>
              <a:srgbClr val="00C5B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131;p21"/>
          <p:cNvGrpSpPr/>
          <p:nvPr/>
        </p:nvGrpSpPr>
        <p:grpSpPr>
          <a:xfrm>
            <a:off x="1666808" y="1233015"/>
            <a:ext cx="1097280" cy="1097280"/>
            <a:chOff x="6654650" y="3665275"/>
            <a:chExt cx="409100" cy="409125"/>
          </a:xfrm>
          <a:solidFill>
            <a:srgbClr val="F05768"/>
          </a:solidFill>
        </p:grpSpPr>
        <p:sp>
          <p:nvSpPr>
            <p:cNvPr id="9" name="Google Shape;132;p21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3;p21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55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edi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60</Words>
  <Application>Microsoft Office PowerPoint</Application>
  <PresentationFormat>On-screen Show (4:3)</PresentationFormat>
  <Paragraphs>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Source Sans Pro</vt:lpstr>
      <vt:lpstr>Benedick template</vt:lpstr>
      <vt:lpstr>SCRUM</vt:lpstr>
      <vt:lpstr>OUTLINE</vt:lpstr>
      <vt:lpstr>PowerPoint Presentation</vt:lpstr>
      <vt:lpstr>SCRUM PROCESS</vt:lpstr>
      <vt:lpstr>PRINCIPLES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</dc:title>
  <cp:lastModifiedBy>DELL</cp:lastModifiedBy>
  <cp:revision>20</cp:revision>
  <dcterms:modified xsi:type="dcterms:W3CDTF">2020-03-12T03:13:31Z</dcterms:modified>
</cp:coreProperties>
</file>